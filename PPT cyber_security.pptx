
<file path=[Content_Types].xml><?xml version="1.0" encoding="utf-8"?>
<Types xmlns="http://schemas.openxmlformats.org/package/2006/content-types">
  <Default Extension="1" ContentType="image/jpeg"/>
  <Default Extension="img" ContentType="image/jpeg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0D2238"/>
    <a:srgbClr val="33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047E04-A19F-4BE2-971F-C4110520734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09D188-888B-4BDE-B5DC-C713279A5AD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5770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9D188-888B-4BDE-B5DC-C713279A5AD5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140623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9D188-888B-4BDE-B5DC-C713279A5AD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33954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B19FCA-F519-9547-0FAE-338459B95E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356917-5D13-F51E-BEDF-1934A58731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FE15363-F505-9C7F-FE11-39004B6AF4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27B4764-EE5A-C930-E942-3B5BF2D95A8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409D188-888B-4BDE-B5DC-C713279A5AD5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2875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4DA10-21F9-B028-F926-75773F45AF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F019025-D5A4-C19F-2C2A-4CA0E62353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78450A-B873-5604-49DA-B51742E77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5891A-67E1-4752-0487-388672006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EC2170-E2A7-9B17-3D6F-FE1F46D53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677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10F61A-E099-3B1B-F182-E5AF3E9F3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687654-2043-9677-46EF-17B4EBE186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B5CD56-0898-3E05-F94D-DC96836C8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D597CF-5D1E-A2E0-79B7-131E3F4DA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0B7780-FB67-6888-4EA6-AB7A97CBF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7050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D11780-A5C4-5FC9-D74A-C0375F557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D33C9B-5758-BAAA-D6E7-56FF88D62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CD8491-3F9D-0CC7-2341-63E2C0AB5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AB0EE1-1071-9C24-E273-29082025BA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3D4A19-8287-EC94-D7D9-71B36E276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51670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FFC707-00FF-21AA-DD6C-97B05BE7D4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7B46E5-6272-E1F7-9D5E-2474691B92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EC447E-38EA-80CA-0358-0E026D7224C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56BB5-F3A3-048D-C149-5ADC38A53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E1B09D-7CD7-4C12-826F-D16D805237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99A69F3-E541-E955-7B61-82D900D67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8090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2726E6-AFDC-79F0-0F0B-F74CB27283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29955-EA88-9D00-3DCB-6A68D10E9A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1AAC32-19DD-6A99-D533-9467BCB96C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1CD3252-0FDD-BB04-AD2E-6852AE29972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A8273D7-346F-191A-55D3-CFB50E45357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4C31254-67D3-7F4F-4B36-34436A204B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FBFD451-3725-0BCC-6745-B4C983088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447E9AF-681D-75B7-004D-979A317A7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9105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3B0A0-6054-4EEE-ADB2-E1CDEB6FA0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7754869-E8AF-07AB-0DD0-35B3485B6D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1AF1DD-2C3A-4D8A-CCC2-0E4A42F58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45AAAE-C695-1A02-C388-B9EECD0E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068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B88544-2E15-30C8-5595-CE49FD8457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90C1D7A-59C7-0C97-AF60-F861B23D10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D1EF3D-7DC2-6B6E-2C70-F2FE1CAFC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3194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0B57A0-2ACB-049E-BA32-231508067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1CDD68-9D8A-F2B6-359B-5C37820E7F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DFFC1D-63F2-4D1F-83DB-17B43CF664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32B8D9-DCE9-A1D6-3B72-0369FB09DC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8EAF2E-9701-4931-F49C-D583A7E60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BDAE52-E9A4-D9C5-50AC-2BE1F0892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32185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27705A-B70D-AD5E-D618-8DFDD91F84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A5FF9E-C834-AC9F-D3E5-AA9F74E44C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908413-D741-1051-AD95-E68F15EA8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E178DBB-918B-3FF6-016E-DF2E69E5C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2722AB-1EB5-AC59-76A3-005A098F56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5F7FFE-2EA3-51F6-EDF4-482B86F880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06285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F583D0-548C-F0AC-62AD-DA74B1786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7017EB4-55A8-F2CD-F1FD-4E058CC1F8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CCAEAD-26CC-571E-8422-FFE494BD8D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9193A6-A2D9-BFB6-F89F-937E8B4B72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4C0EA5-28B8-93C2-18FB-A343174EEF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35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45BFEE4-29C3-752D-E280-2939BBD90E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411854-9A3A-E5C5-323A-49475ACC64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2C1F43-AE01-4FD9-146E-F03DB6F753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E9A5C9-85D3-EA4A-FC03-536B8C7A4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11148C-7E75-913E-AC61-44E242313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6840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22BA565-8D72-9D9E-C5CF-28A2D6BD0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9BD8EC-A232-B09F-6651-0D9C396746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51645D-8B0F-C345-B1C4-3B08EC484AF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464BBA-CA79-4704-A7AB-18D0A9784420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199FC6-F8E9-8B90-381A-026DC18663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B873FF-639E-921D-89AC-759E2DF6AF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B91D9C-D539-4FDB-9745-84CD1E4094D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771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badluckart.deviantart.com/art/Cybercity-Knights-Cityscape-418001963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Relationship Id="rId4" Type="http://schemas.openxmlformats.org/officeDocument/2006/relationships/hyperlink" Target="https://creativecommons.org/licenses/by-nc-nd/3.0/" TargetMode="Externa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sn.com/en-gb/news/other/man-with-142-previous-convictions-remanded-on-class-a-drug-charges/ar-AA22a71y" TargetMode="External"/><Relationship Id="rId2" Type="http://schemas.openxmlformats.org/officeDocument/2006/relationships/image" Target="../media/image3.im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rstechnica.com/security/2026/01/hacker-who-stole-120000-bitcoins-wants-a-second-chance-and-a-security-job/" TargetMode="Externa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rawpixel.com/search/server" TargetMode="External"/><Relationship Id="rId2" Type="http://schemas.openxmlformats.org/officeDocument/2006/relationships/image" Target="../media/image5.1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outhendbc/5274740952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lickr.com/photos/southendbc/52747409529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6C630F-8867-661D-8782-948D8D1E92C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95165" y="1122363"/>
            <a:ext cx="10201671" cy="2387600"/>
          </a:xfrm>
        </p:spPr>
        <p:txBody>
          <a:bodyPr/>
          <a:lstStyle/>
          <a:p>
            <a:r>
              <a:rPr lang="en-IN" dirty="0">
                <a:solidFill>
                  <a:srgbClr val="33CCFF"/>
                </a:solidFill>
              </a:rPr>
              <a:t>National Cybersecurity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9885A6-FC7C-4B53-206E-2A9F3EE106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95165" y="3602038"/>
            <a:ext cx="10201671" cy="1655762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>
                    <a:lumMod val="65000"/>
                    <a:lumOff val="35000"/>
                  </a:schemeClr>
                </a:solidFill>
              </a:rPr>
              <a:t>Cybersecurity framework</a:t>
            </a:r>
          </a:p>
          <a:p>
            <a:endParaRPr lang="en-IN" dirty="0"/>
          </a:p>
          <a:p>
            <a:r>
              <a:rPr lang="en-IN" dirty="0"/>
              <a:t>      </a:t>
            </a:r>
            <a:r>
              <a:rPr lang="en-IN" dirty="0">
                <a:solidFill>
                  <a:srgbClr val="33CCFF"/>
                </a:solidFill>
              </a:rPr>
              <a:t>Khan Rayed     Arjun Kumar Yadav</a:t>
            </a:r>
          </a:p>
          <a:p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24102B0001         24102B0013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566F3F-F711-C587-23E0-544FC984C9F4}"/>
              </a:ext>
            </a:extLst>
          </p:cNvPr>
          <p:cNvCxnSpPr/>
          <p:nvPr/>
        </p:nvCxnSpPr>
        <p:spPr>
          <a:xfrm>
            <a:off x="5919019" y="4393800"/>
            <a:ext cx="0" cy="864000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9145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C02912-E45A-4D72-EF5D-47765D94E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4757" y="457200"/>
            <a:ext cx="4258049" cy="16002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IN" sz="4000" dirty="0">
                <a:solidFill>
                  <a:srgbClr val="33CC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VIT Republic</a:t>
            </a:r>
            <a:br>
              <a:rPr lang="en-IN" sz="4000" dirty="0">
                <a:solidFill>
                  <a:srgbClr val="33CC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</a:br>
            <a:r>
              <a:rPr lang="en-IN" sz="4000" dirty="0">
                <a:solidFill>
                  <a:srgbClr val="33CC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Background</a:t>
            </a:r>
          </a:p>
        </p:txBody>
      </p:sp>
      <p:pic>
        <p:nvPicPr>
          <p:cNvPr id="6" name="Content Placeholder 5" descr="Abstract background of node and mesh">
            <a:extLst>
              <a:ext uri="{FF2B5EF4-FFF2-40B4-BE49-F238E27FC236}">
                <a16:creationId xmlns:a16="http://schemas.microsoft.com/office/drawing/2014/main" id="{0D234158-D036-965D-DE5B-0F45A709BB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5360" y="1196913"/>
            <a:ext cx="6683607" cy="445464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B45EF7-795E-E2D9-78B5-48B5D0C789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34757" y="2057400"/>
            <a:ext cx="4258049" cy="3811588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VIT's Republic is a rapidly growing digital nation with </a:t>
            </a:r>
            <a:r>
              <a:rPr lang="en-IN" b="1" dirty="0">
                <a:solidFill>
                  <a:schemeClr val="bg1"/>
                </a:solidFill>
              </a:rPr>
              <a:t>50 million users</a:t>
            </a:r>
            <a:r>
              <a:rPr lang="en-IN" dirty="0">
                <a:solidFill>
                  <a:schemeClr val="bg1"/>
                </a:solidFill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solidFill>
                  <a:schemeClr val="bg1"/>
                </a:solidFill>
              </a:rPr>
              <a:t>From online banking to smart city infrastructure, the nation's economic delivery has transitioned to a virtual-first model.</a:t>
            </a:r>
          </a:p>
          <a:p>
            <a:endParaRPr lang="en-IN" dirty="0">
              <a:solidFill>
                <a:schemeClr val="bg1"/>
              </a:solidFill>
            </a:endParaRPr>
          </a:p>
          <a:p>
            <a:pPr>
              <a:spcBef>
                <a:spcPct val="0"/>
              </a:spcBef>
            </a:pPr>
            <a:r>
              <a:rPr lang="en-IN" dirty="0">
                <a:solidFill>
                  <a:srgbClr val="33CCFF"/>
                </a:solidFill>
                <a:effectLst>
                  <a:glow rad="139700">
                    <a:schemeClr val="accent1">
                      <a:satMod val="175000"/>
                      <a:alpha val="40000"/>
                    </a:schemeClr>
                  </a:glow>
                </a:effectLst>
                <a:latin typeface="+mj-lt"/>
                <a:ea typeface="+mj-ea"/>
                <a:cs typeface="+mj-cs"/>
              </a:rPr>
              <a:t>Critical Vulnerabilities</a:t>
            </a:r>
          </a:p>
          <a:p>
            <a:r>
              <a:rPr lang="en-IN" b="1" dirty="0">
                <a:solidFill>
                  <a:schemeClr val="bg1">
                    <a:lumMod val="85000"/>
                  </a:schemeClr>
                </a:solidFill>
              </a:rPr>
              <a:t>Recent large scale  attacks on  hospitals using  ransomware leading to large scale breaches has  shown the urgent need  for  a robust legal framework</a:t>
            </a:r>
          </a:p>
          <a:p>
            <a:endParaRPr lang="en-IN" dirty="0">
              <a:solidFill>
                <a:schemeClr val="bg1"/>
              </a:solidFill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82E744-A70E-E983-7BCE-90A32A961A36}"/>
              </a:ext>
            </a:extLst>
          </p:cNvPr>
          <p:cNvCxnSpPr/>
          <p:nvPr/>
        </p:nvCxnSpPr>
        <p:spPr>
          <a:xfrm>
            <a:off x="652539" y="958490"/>
            <a:ext cx="0" cy="864000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71804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3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D8DC85-21EF-87F1-7D58-6BC4862145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" y="365125"/>
            <a:ext cx="12087411" cy="1325563"/>
          </a:xfrm>
        </p:spPr>
        <p:txBody>
          <a:bodyPr/>
          <a:lstStyle/>
          <a:p>
            <a:r>
              <a:rPr lang="en-IN" dirty="0">
                <a:solidFill>
                  <a:srgbClr val="33CC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PURPOSE OF THE LAW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517FA0-919A-F33D-C51F-718AA4ACAB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295" y="1825625"/>
            <a:ext cx="12087411" cy="4351338"/>
          </a:xfrm>
        </p:spPr>
        <p:txBody>
          <a:bodyPr/>
          <a:lstStyle/>
          <a:p>
            <a:pPr marL="0" indent="0">
              <a:buNone/>
            </a:pPr>
            <a:r>
              <a:rPr lang="en-IN" dirty="0"/>
              <a:t>4 Pillars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0FB34FC-2B5A-7CDE-C179-05558E37494F}"/>
              </a:ext>
            </a:extLst>
          </p:cNvPr>
          <p:cNvSpPr/>
          <p:nvPr/>
        </p:nvSpPr>
        <p:spPr>
          <a:xfrm>
            <a:off x="1283813" y="2713703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CB6576-E2D5-A973-60EE-8C78F65C29BE}"/>
              </a:ext>
            </a:extLst>
          </p:cNvPr>
          <p:cNvSpPr txBox="1"/>
          <p:nvPr/>
        </p:nvSpPr>
        <p:spPr>
          <a:xfrm>
            <a:off x="1283813" y="2792361"/>
            <a:ext cx="4147806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accent5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CYBER</a:t>
            </a:r>
            <a:r>
              <a:rPr lang="en-IN" dirty="0">
                <a:solidFill>
                  <a:schemeClr val="accent5"/>
                </a:solidFill>
              </a:rPr>
              <a:t> </a:t>
            </a:r>
            <a:r>
              <a:rPr lang="en-IN" dirty="0">
                <a:solidFill>
                  <a:schemeClr val="accent5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PROTECTION 🔒</a:t>
            </a:r>
          </a:p>
          <a:p>
            <a:endParaRPr lang="en-IN" dirty="0"/>
          </a:p>
          <a:p>
            <a:r>
              <a:rPr lang="en-IN" sz="14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Establishing a comprehensive legal framework for protecting cyberspace, digital infrastructure, and personal data.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363869-8480-D82E-1A6F-3A09B1E40C71}"/>
              </a:ext>
            </a:extLst>
          </p:cNvPr>
          <p:cNvSpPr/>
          <p:nvPr/>
        </p:nvSpPr>
        <p:spPr>
          <a:xfrm>
            <a:off x="6760383" y="2696496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5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NATIONAL SECURITY 🪪</a:t>
            </a:r>
          </a:p>
          <a:p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Securing critical information infrastructure and essential services from espionage and disruption.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974A783-9934-EBEE-B1B5-DFA3BDBDBB8D}"/>
              </a:ext>
            </a:extLst>
          </p:cNvPr>
          <p:cNvSpPr/>
          <p:nvPr/>
        </p:nvSpPr>
        <p:spPr>
          <a:xfrm>
            <a:off x="1283813" y="4711956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5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ECONOMIC STABILITY 📊</a:t>
            </a:r>
          </a:p>
          <a:p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Preventing financial fraud that undermines the digital economy and investor confidence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2A3546A-7B22-1D1E-0274-E41695F6D5AD}"/>
              </a:ext>
            </a:extLst>
          </p:cNvPr>
          <p:cNvSpPr/>
          <p:nvPr/>
        </p:nvSpPr>
        <p:spPr>
          <a:xfrm>
            <a:off x="6760381" y="4711956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>
                <a:solidFill>
                  <a:schemeClr val="accent5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CITIZEN TRUST </a:t>
            </a:r>
          </a:p>
          <a:p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dirty="0">
                <a:solidFill>
                  <a:schemeClr val="tx1"/>
                </a:solidFill>
              </a:rPr>
              <a:t>Building public confidence in e governance through guaranteed privacy and rapid recovery protocols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EE270B5-F6E2-16EB-85A6-1E32607AF302}"/>
              </a:ext>
            </a:extLst>
          </p:cNvPr>
          <p:cNvCxnSpPr/>
          <p:nvPr/>
        </p:nvCxnSpPr>
        <p:spPr>
          <a:xfrm>
            <a:off x="155294" y="632027"/>
            <a:ext cx="0" cy="864000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9515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04812C46-200A-4DEB-A05E-3ED6C68C23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9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532BAF0F-0D0A-BF9B-43EF-EE0EC0C421B4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l="11402" r="11402"/>
          <a:stretch>
            <a:fillRect/>
          </a:stretch>
        </p:blipFill>
        <p:spPr>
          <a:xfrm>
            <a:off x="2522356" y="10"/>
            <a:ext cx="966964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1EA859B-E555-4109-94F3-6700E046E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7390263" cy="6858000"/>
          </a:xfrm>
          <a:prstGeom prst="rect">
            <a:avLst/>
          </a:prstGeom>
          <a:gradFill>
            <a:gsLst>
              <a:gs pos="48000">
                <a:schemeClr val="bg1"/>
              </a:gs>
              <a:gs pos="35000">
                <a:schemeClr val="bg1">
                  <a:alpha val="77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4767FB-10BC-DA62-DB11-901AF777C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3822189" cy="1899912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4000"/>
              <a:t>01. The Imperative for Legislation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8B05B5-C9CB-87ED-3D76-8D421D405F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8200" y="2434201"/>
            <a:ext cx="3822189" cy="3742762"/>
          </a:xfrm>
        </p:spPr>
        <p:txBody>
          <a:bodyPr vert="horz" lIns="91440" tIns="45720" rIns="91440" bIns="45720" rtlCol="0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VIT's Republic operates on a virtual-first model where municipal logistics, personal data, utility control pipelines, and monetary operations are deeply integrated online.</a:t>
            </a:r>
          </a:p>
          <a:p>
            <a:pPr indent="-228600">
              <a:buFont typeface="Arial" panose="020B0604020202020204" pitchFamily="34" charset="0"/>
              <a:buChar char="•"/>
            </a:pPr>
            <a:endParaRPr lang="en-US" sz="170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Catalyst incidents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1700"/>
              <a:t>Recent critical structural breaches—          specifically aggressive ransomware locking down primary healthcare networks and sophisticated dynamic financial fraud—exposed immediate gaps in public safety.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D6175F8-FF9B-D305-7AB5-0CA6C3B803C7}"/>
              </a:ext>
            </a:extLst>
          </p:cNvPr>
          <p:cNvSpPr txBox="1"/>
          <p:nvPr/>
        </p:nvSpPr>
        <p:spPr>
          <a:xfrm>
            <a:off x="9732671" y="6657945"/>
            <a:ext cx="2459327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IN" sz="700">
                <a:solidFill>
                  <a:srgbClr val="FFFFFF"/>
                </a:solidFill>
                <a:hlinkClick r:id="rId3" tooltip="https://badluckart.deviantart.com/art/Cybercity-Knights-Cityscape-4180019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IN" sz="700">
                <a:solidFill>
                  <a:srgbClr val="FFFFFF"/>
                </a:solidFill>
              </a:rPr>
              <a:t> by Unknown Author is licensed under </a:t>
            </a:r>
            <a:r>
              <a:rPr lang="en-IN" sz="700">
                <a:solidFill>
                  <a:srgbClr val="FFFFFF"/>
                </a:solidFill>
                <a:hlinkClick r:id="rId4" tooltip="https://creativecommons.org/licenses/by-nc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BY-NC-ND</a:t>
            </a:r>
            <a:endParaRPr lang="en-IN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3797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9E5C1-9D45-8B5F-315A-468B70E6BAC5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02. </a:t>
            </a:r>
            <a:r>
              <a:rPr lang="en-IN" dirty="0">
                <a:solidFill>
                  <a:srgbClr val="33CCFF"/>
                </a:solidFill>
              </a:rPr>
              <a:t>Statuary legal </a:t>
            </a:r>
            <a:r>
              <a:rPr lang="en-IN" dirty="0" err="1">
                <a:solidFill>
                  <a:srgbClr val="33CCFF"/>
                </a:solidFill>
              </a:rPr>
              <a:t>definations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A76C73-D4E6-3A06-716D-AD64EDEBF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600" dirty="0">
                <a:solidFill>
                  <a:schemeClr val="bg1"/>
                </a:solidFill>
              </a:rPr>
              <a:t>The legislation establishes systemic, institutional, and judicial mechanisms across four strategic dimensions</a:t>
            </a:r>
            <a:r>
              <a:rPr lang="en-IN" sz="2000" dirty="0"/>
              <a:t>:</a:t>
            </a:r>
          </a:p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rgbClr val="33CCFF"/>
                </a:solidFill>
              </a:rPr>
              <a:t>Term</a:t>
            </a:r>
            <a:r>
              <a:rPr lang="en-IN" sz="2000" dirty="0"/>
              <a:t>			</a:t>
            </a:r>
            <a:r>
              <a:rPr lang="en-IN" sz="2000" dirty="0">
                <a:solidFill>
                  <a:srgbClr val="33CCFF"/>
                </a:solidFill>
              </a:rPr>
              <a:t>Legal </a:t>
            </a:r>
            <a:r>
              <a:rPr lang="en-IN" sz="2000" dirty="0" err="1">
                <a:solidFill>
                  <a:srgbClr val="33CCFF"/>
                </a:solidFill>
              </a:rPr>
              <a:t>Defination</a:t>
            </a:r>
            <a:r>
              <a:rPr lang="en-IN" sz="2000" dirty="0">
                <a:solidFill>
                  <a:srgbClr val="33CCFF"/>
                </a:solidFill>
              </a:rPr>
              <a:t> under this framework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Cybercrime</a:t>
            </a:r>
            <a:r>
              <a:rPr lang="en-IN" sz="2000" dirty="0"/>
              <a:t>		</a:t>
            </a:r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Unlawful act using computer processing units or networks as a tool or target of systemic harm.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Malware/</a:t>
            </a:r>
            <a:r>
              <a:rPr lang="en-IN" sz="20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Phising</a:t>
            </a:r>
            <a:r>
              <a:rPr lang="en-IN" sz="2000" dirty="0"/>
              <a:t>		</a:t>
            </a:r>
            <a:r>
              <a:rPr lang="en-IN" sz="1400" dirty="0">
                <a:solidFill>
                  <a:srgbClr val="94A3B8"/>
                </a:solidFill>
                <a:latin typeface="Inter"/>
              </a:rPr>
              <a:t>Malicious scripts (ransomware, trojans) or spoofed vectors designed to extract private access keys</a:t>
            </a:r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.</a:t>
            </a:r>
            <a:endParaRPr lang="en-IN" sz="2000" dirty="0"/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Data Breach</a:t>
            </a:r>
            <a:r>
              <a:rPr lang="en-IN" sz="2000" dirty="0"/>
              <a:t>		</a:t>
            </a:r>
            <a:r>
              <a:rPr lang="en-IN" sz="1400" dirty="0">
                <a:solidFill>
                  <a:srgbClr val="94A3B8"/>
                </a:solidFill>
                <a:latin typeface="Inter"/>
              </a:rPr>
              <a:t>The unapproved or illegal exfiltration, leakage, or exploitation of personal or sovereign user registries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Critical Infrastructure</a:t>
            </a:r>
            <a:r>
              <a:rPr lang="en-IN" sz="2000" dirty="0"/>
              <a:t>	</a:t>
            </a:r>
            <a:r>
              <a:rPr lang="en-IN" sz="1400" dirty="0">
                <a:solidFill>
                  <a:srgbClr val="94A3B8"/>
                </a:solidFill>
                <a:latin typeface="Inter"/>
              </a:rPr>
              <a:t>Systems so essential that compromise would cripple economic stability, national health, or safety.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Deepfake/ Zero day</a:t>
            </a:r>
            <a:r>
              <a:rPr lang="en-IN" sz="2000" dirty="0"/>
              <a:t>	</a:t>
            </a:r>
            <a:r>
              <a:rPr lang="en-IN" sz="1400" dirty="0">
                <a:solidFill>
                  <a:srgbClr val="94A3B8"/>
                </a:solidFill>
                <a:latin typeface="Inter"/>
              </a:rPr>
              <a:t>Synthetic media altered via AI to mimic identities, or software flaws unknown to system architects.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EC16F2-6D7D-9138-2A74-895EE1026239}"/>
              </a:ext>
            </a:extLst>
          </p:cNvPr>
          <p:cNvCxnSpPr>
            <a:cxnSpLocks/>
          </p:cNvCxnSpPr>
          <p:nvPr/>
        </p:nvCxnSpPr>
        <p:spPr>
          <a:xfrm>
            <a:off x="432619" y="654920"/>
            <a:ext cx="0" cy="552204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75151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3E6138-78B5-4769-B794-B0DC50CC9C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4F483F-BE2A-58B0-4DC2-3A4A1BC85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03.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The Bill of Digital Rights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BA49C-C61C-998A-6CA7-956E800A6817}"/>
              </a:ext>
            </a:extLst>
          </p:cNvPr>
          <p:cNvSpPr>
            <a:spLocks noGrp="1"/>
          </p:cNvSpPr>
          <p:nvPr>
            <p:ph idx="1"/>
          </p:nvPr>
        </p:nvSpPr>
        <p:spPr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This framework shifts cybersecurity from corporate compliance to foundational civil liberties, vesting core rights directly in the citizen.</a:t>
            </a:r>
          </a:p>
          <a:p>
            <a:pPr marL="0" indent="0">
              <a:buNone/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Right to Privacy: </a:t>
            </a:r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Prohibits arbitrary background profiling; processing data requires explicit, lawful authorization.</a:t>
            </a: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Right to Data Integrity: </a:t>
            </a:r>
            <a:r>
              <a:rPr lang="en-US" sz="1400" b="1" i="0" dirty="0">
                <a:solidFill>
                  <a:srgbClr val="94A3B8"/>
                </a:solidFill>
                <a:effectLst/>
                <a:latin typeface="Inter"/>
              </a:rPr>
              <a:t> </a:t>
            </a:r>
            <a:r>
              <a:rPr lang="en-US" sz="1400" b="0" i="0" dirty="0">
                <a:solidFill>
                  <a:srgbClr val="94A3B8"/>
                </a:solidFill>
                <a:effectLst/>
                <a:latin typeface="Inter"/>
              </a:rPr>
              <a:t>Assures that all consumer-facing networks mandate industry-standard end-to-end encryption</a:t>
            </a:r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.</a:t>
            </a: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Right to erasure: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94A3B8"/>
                </a:solidFill>
                <a:effectLst/>
                <a:uLnTx/>
                <a:uFillTx/>
                <a:latin typeface="Inter"/>
                <a:ea typeface="+mn-ea"/>
                <a:cs typeface="+mn-cs"/>
              </a:rPr>
              <a:t>Also known as the "Right to be Forgotten," enabling permanent purging of individual profiles upon demand within 30 days.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F458D06-7310-6789-3C6A-FE2DED51228E}"/>
              </a:ext>
            </a:extLst>
          </p:cNvPr>
          <p:cNvCxnSpPr>
            <a:cxnSpLocks/>
          </p:cNvCxnSpPr>
          <p:nvPr/>
        </p:nvCxnSpPr>
        <p:spPr>
          <a:xfrm>
            <a:off x="432619" y="654920"/>
            <a:ext cx="0" cy="552204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496198-8F83-9387-FA8E-DF5676CC69B1}"/>
              </a:ext>
            </a:extLst>
          </p:cNvPr>
          <p:cNvSpPr/>
          <p:nvPr/>
        </p:nvSpPr>
        <p:spPr>
          <a:xfrm>
            <a:off x="1046479" y="4572000"/>
            <a:ext cx="3962397" cy="1739900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dirty="0"/>
              <a:t>🛡️</a:t>
            </a:r>
            <a:r>
              <a:rPr lang="en-IN" b="1" dirty="0">
                <a:solidFill>
                  <a:srgbClr val="33CCFF"/>
                </a:solidFill>
              </a:rPr>
              <a:t>Transparency of vectoring</a:t>
            </a:r>
          </a:p>
          <a:p>
            <a:r>
              <a:rPr lang="en-IN" sz="1400" dirty="0"/>
              <a:t>Every commercial entity must present transparent registries explaining exactly which third parties can access user info, data warehouse locales, and monetization mechanics.</a:t>
            </a:r>
          </a:p>
        </p:txBody>
      </p:sp>
    </p:spTree>
    <p:extLst>
      <p:ext uri="{BB962C8B-B14F-4D97-AF65-F5344CB8AC3E}">
        <p14:creationId xmlns:p14="http://schemas.microsoft.com/office/powerpoint/2010/main" val="41588041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375ED6-44B0-6140-A80E-B15C73A3A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A4293-74DF-463C-AB12-8444FE94DE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04.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Access to Justice &amp; Forensic Remedies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921918-E39B-B95A-B933-DF77770414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>
                <a:solidFill>
                  <a:srgbClr val="33CCFF"/>
                </a:solidFill>
              </a:rPr>
              <a:t>Guaranteed Investigative Timelines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law establishes a specialized reporting node ensuring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that citizen-filed complaints receive an active response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and case number assignment within </a:t>
            </a:r>
            <a:r>
              <a:rPr lang="en-IN" sz="16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72 hours</a:t>
            </a: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>
                <a:solidFill>
                  <a:srgbClr val="33CCFF"/>
                </a:solidFill>
              </a:rPr>
              <a:t>Forensic Evidence Standard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ensure a fair investigation and maintain the presumption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of innocence, digital evidence (packet captures, logs, disk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images) must adhere to rigorous, tamper-proof chain of </a:t>
            </a:r>
          </a:p>
          <a:p>
            <a:pPr marL="0" indent="0">
              <a:buNone/>
            </a:pPr>
            <a:r>
              <a:rPr lang="en-IN" sz="16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custody protocols before introduction in tribunals.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483E6B-3FAB-42B4-82CD-F794FABC502A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E3BD66BE-BFF2-263A-BDAA-D0E9F39E1C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7264400" y="2037080"/>
            <a:ext cx="4785360" cy="3540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5713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9CAF4C-CC62-0645-3A41-5E3F626F55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69D878-1228-2B19-FC24-16D3778E40C3}"/>
              </a:ext>
            </a:extLst>
          </p:cNvPr>
          <p:cNvSpPr>
            <a:spLocks noGrp="1"/>
          </p:cNvSpPr>
          <p:nvPr>
            <p:ph type="title"/>
          </p:nvPr>
        </p:nvSpPr>
        <p:spPr>
          <a:effectLst>
            <a:glow rad="228600">
              <a:schemeClr val="accent1">
                <a:satMod val="175000"/>
                <a:alpha val="40000"/>
              </a:schemeClr>
            </a:glow>
          </a:effectLst>
        </p:spPr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05.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Criminal Penalties &amp; Custodial Terms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8374E8-C658-DCF2-8140-90090E5F2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178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IN" sz="2000" dirty="0"/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260C097-6223-75C0-2778-88E8BE358F46}"/>
              </a:ext>
            </a:extLst>
          </p:cNvPr>
          <p:cNvCxnSpPr>
            <a:cxnSpLocks/>
          </p:cNvCxnSpPr>
          <p:nvPr/>
        </p:nvCxnSpPr>
        <p:spPr>
          <a:xfrm>
            <a:off x="432619" y="654920"/>
            <a:ext cx="0" cy="552204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FA8A4B6A-9A8D-9C85-3DDB-4A72ECA9B38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5370691"/>
              </p:ext>
            </p:extLst>
          </p:nvPr>
        </p:nvGraphicFramePr>
        <p:xfrm>
          <a:off x="838200" y="2197100"/>
          <a:ext cx="8839200" cy="4114800"/>
        </p:xfrm>
        <a:graphic>
          <a:graphicData uri="http://schemas.openxmlformats.org/drawingml/2006/table">
            <a:tbl>
              <a:tblPr/>
              <a:tblGrid>
                <a:gridCol w="2209800">
                  <a:extLst>
                    <a:ext uri="{9D8B030D-6E8A-4147-A177-3AD203B41FA5}">
                      <a16:colId xmlns:a16="http://schemas.microsoft.com/office/drawing/2014/main" val="3709445760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3256239482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2493208605"/>
                    </a:ext>
                  </a:extLst>
                </a:gridCol>
                <a:gridCol w="2209800">
                  <a:extLst>
                    <a:ext uri="{9D8B030D-6E8A-4147-A177-3AD203B41FA5}">
                      <a16:colId xmlns:a16="http://schemas.microsoft.com/office/drawing/2014/main" val="18639398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Statutory Crime Definition</a:t>
                      </a:r>
                    </a:p>
                  </a:txBody>
                  <a:tcPr marL="121920" marR="121920" marT="121920" marB="121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Minimum Term</a:t>
                      </a:r>
                    </a:p>
                  </a:txBody>
                  <a:tcPr marL="121920" marR="121920" marT="121920" marB="121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>
                          <a:solidFill>
                            <a:srgbClr val="38BDF8"/>
                          </a:solidFill>
                          <a:effectLst/>
                        </a:rPr>
                        <a:t>Maximum Term</a:t>
                      </a:r>
                    </a:p>
                  </a:txBody>
                  <a:tcPr marL="121920" marR="121920" marT="121920" marB="121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b="1" dirty="0">
                          <a:solidFill>
                            <a:srgbClr val="38BDF8"/>
                          </a:solidFill>
                          <a:effectLst/>
                        </a:rPr>
                        <a:t>Financial Forfeiture</a:t>
                      </a:r>
                    </a:p>
                  </a:txBody>
                  <a:tcPr marL="121920" marR="121920" marT="121920" marB="1219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5516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94A3B8"/>
                          </a:solidFill>
                          <a:effectLst/>
                        </a:rPr>
                        <a:t>Unauthorized Intrusion / Access</a:t>
                      </a:r>
                      <a:endParaRPr lang="en-IN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6 Months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3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50,000 VIT Credits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11079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93360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94A3B8"/>
                          </a:solidFill>
                          <a:effectLst/>
                        </a:rPr>
                        <a:t>Data Exfiltration &amp; Theft</a:t>
                      </a:r>
                      <a:endParaRPr lang="en-IN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5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8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250,000 VIT Credits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00499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94A3B8"/>
                          </a:solidFill>
                          <a:effectLst/>
                        </a:rPr>
                        <a:t>Ransomware Execution</a:t>
                      </a:r>
                      <a:endParaRPr lang="en-IN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8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12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500,000 VIT Credits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734433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>
                          <a:solidFill>
                            <a:srgbClr val="94A3B8"/>
                          </a:solidFill>
                          <a:effectLst/>
                        </a:rPr>
                        <a:t>Targeted Cyberbullying &amp; Doxxing</a:t>
                      </a:r>
                      <a:endParaRPr lang="en-IN">
                        <a:solidFill>
                          <a:srgbClr val="94A3B8"/>
                        </a:solidFill>
                        <a:effectLst/>
                      </a:endParaRP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3 Months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rgbClr val="94A3B8"/>
                          </a:solidFill>
                          <a:effectLst/>
                        </a:rPr>
                        <a:t>2 Years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rgbClr val="94A3B8"/>
                          </a:solidFill>
                          <a:effectLst/>
                        </a:rPr>
                        <a:t>30,000 VIT Credits</a:t>
                      </a:r>
                    </a:p>
                  </a:txBody>
                  <a:tcPr marL="121920" marR="121920" marT="106680" marB="106680" anchor="ctr">
                    <a:lnL>
                      <a:noFill/>
                    </a:lnL>
                    <a:lnR>
                      <a:noFill/>
                    </a:lnR>
                    <a:lnT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54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29676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497652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31C24-1EC9-6336-21BE-9B69D20B1E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D324274-C93A-C585-315C-9AB360707180}"/>
              </a:ext>
            </a:extLst>
          </p:cNvPr>
          <p:cNvSpPr/>
          <p:nvPr/>
        </p:nvSpPr>
        <p:spPr>
          <a:xfrm>
            <a:off x="838200" y="1677353"/>
            <a:ext cx="4384040" cy="1727200"/>
          </a:xfrm>
          <a:prstGeom prst="roundRect">
            <a:avLst/>
          </a:prstGeom>
          <a:solidFill>
            <a:srgbClr val="FF0000">
              <a:alpha val="31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96C9A8-3362-9225-2280-E21B47C5E3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06.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Cyber Terrorism Clauses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6C63E-CEFC-CD93-EBFB-6348A091C1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b="1" dirty="0">
                <a:solidFill>
                  <a:srgbClr val="C00000"/>
                </a:solidFill>
              </a:rPr>
              <a:t>🚩Aggressive Penalty Matrix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bg1"/>
                </a:solidFill>
              </a:rPr>
              <a:t>Attacking critical sovereign grids, telecommunication hubs, 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bg1"/>
                </a:solidFill>
              </a:rPr>
              <a:t>or administrative command structures to destabilize public</a:t>
            </a:r>
          </a:p>
          <a:p>
            <a:pPr marL="0" indent="0">
              <a:buNone/>
            </a:pPr>
            <a:r>
              <a:rPr lang="en-IN" sz="1400" dirty="0">
                <a:solidFill>
                  <a:schemeClr val="bg1"/>
                </a:solidFill>
              </a:rPr>
              <a:t> safety is prosecuted under Cyber Terrorism guidelines.</a:t>
            </a:r>
          </a:p>
          <a:p>
            <a:pPr marL="0" indent="0">
              <a:buNone/>
            </a:pPr>
            <a:endParaRPr lang="en-IN" b="1" dirty="0"/>
          </a:p>
          <a:p>
            <a:pPr marL="0" indent="0">
              <a:buNone/>
            </a:pPr>
            <a:endParaRPr lang="en-IN" sz="2000" b="1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Sentencing Floor: </a:t>
            </a: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Minimum mandatory 15 years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          imprisonment.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Sentencing Ceiling:</a:t>
            </a:r>
            <a:r>
              <a:rPr lang="en-IN" sz="2000" dirty="0">
                <a:solidFill>
                  <a:schemeClr val="bg1"/>
                </a:solidFill>
              </a:rPr>
              <a:t> </a:t>
            </a: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Up to 25 years inside high-security</a:t>
            </a:r>
          </a:p>
          <a:p>
            <a:pPr marL="0" indent="0">
              <a:buNone/>
            </a:pP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			 facilities.</a:t>
            </a:r>
          </a:p>
          <a:p>
            <a:pPr marL="0" indent="0">
              <a:buNone/>
            </a:pPr>
            <a:r>
              <a:rPr lang="en-IN" sz="2000" b="1" dirty="0">
                <a:solidFill>
                  <a:schemeClr val="bg1"/>
                </a:solidFill>
              </a:rPr>
              <a:t>Economic Penalty: </a:t>
            </a:r>
            <a:r>
              <a:rPr lang="en-IN" sz="20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Flat 2,000,000 VIT Credits forfeiture.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0CA2538-77BE-D657-01D5-8E161E84665D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6">
            <a:extLst>
              <a:ext uri="{FF2B5EF4-FFF2-40B4-BE49-F238E27FC236}">
                <a16:creationId xmlns:a16="http://schemas.microsoft.com/office/drawing/2014/main" id="{B87984FE-AA53-8DC2-7362-411C852DFB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845300" y="1677353"/>
            <a:ext cx="5168900" cy="4361688"/>
          </a:xfrm>
          <a:prstGeom prst="rect">
            <a:avLst/>
          </a:prstGeom>
          <a:effectLst>
            <a:glow rad="76200">
              <a:schemeClr val="accent1">
                <a:alpha val="40000"/>
              </a:schemeClr>
            </a:glow>
          </a:effectLst>
        </p:spPr>
      </p:pic>
    </p:spTree>
    <p:extLst>
      <p:ext uri="{BB962C8B-B14F-4D97-AF65-F5344CB8AC3E}">
        <p14:creationId xmlns:p14="http://schemas.microsoft.com/office/powerpoint/2010/main" val="12256793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90C788-CA36-A740-2F6A-E21DEDAC9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5667FC3-8540-68FD-7A11-228247292435}"/>
              </a:ext>
            </a:extLst>
          </p:cNvPr>
          <p:cNvSpPr/>
          <p:nvPr/>
        </p:nvSpPr>
        <p:spPr>
          <a:xfrm>
            <a:off x="726440" y="1684656"/>
            <a:ext cx="4648200" cy="1727200"/>
          </a:xfrm>
          <a:prstGeom prst="roundRect">
            <a:avLst/>
          </a:prstGeom>
          <a:solidFill>
            <a:srgbClr val="33CCFF">
              <a:alpha val="1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5400" dirty="0"/>
              <a:t>+50%</a:t>
            </a:r>
          </a:p>
          <a:p>
            <a:pPr algn="ctr"/>
            <a:r>
              <a:rPr lang="en-IN" sz="2400" dirty="0"/>
              <a:t>Compounded Sentencing scale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B4AD90-9F69-8762-77A9-E38B24A8A8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07.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Statutory Aggravating factors 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83AF47-C824-E031-69DE-DB50481BBB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4640" y="1690688"/>
            <a:ext cx="713821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Judges apply an automatic 50% escalation to incarceration and financial penalties under four aggravating circumstances: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assault deliberately targets </a:t>
            </a:r>
            <a:r>
              <a:rPr lang="en-IN" sz="2200" b="1" dirty="0">
                <a:solidFill>
                  <a:schemeClr val="bg1"/>
                </a:solidFill>
              </a:rPr>
              <a:t>primary emergency medical care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 networks.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incident scales to disrupt or compromise </a:t>
            </a:r>
            <a:r>
              <a:rPr lang="en-IN" sz="2200" b="1" dirty="0">
                <a:solidFill>
                  <a:schemeClr val="tx1">
                    <a:lumMod val="50000"/>
                    <a:lumOff val="50000"/>
                  </a:schemeClr>
                </a:solidFill>
              </a:rPr>
              <a:t>&gt; </a:t>
            </a:r>
            <a:r>
              <a:rPr lang="en-IN" sz="2200" b="1" dirty="0">
                <a:solidFill>
                  <a:schemeClr val="bg1"/>
                </a:solidFill>
              </a:rPr>
              <a:t>10,000 unique identities</a:t>
            </a:r>
            <a:r>
              <a:rPr lang="en-IN" sz="22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operation is run by an </a:t>
            </a:r>
            <a:r>
              <a:rPr lang="en-IN" sz="2200" b="1" dirty="0">
                <a:solidFill>
                  <a:schemeClr val="bg1"/>
                </a:solidFill>
              </a:rPr>
              <a:t>organized or state-sponsored group</a:t>
            </a:r>
            <a:r>
              <a:rPr lang="en-IN" sz="2200" dirty="0">
                <a:solidFill>
                  <a:schemeClr val="bg1"/>
                </a:solidFill>
              </a:rPr>
              <a:t>.</a:t>
            </a:r>
          </a:p>
          <a:p>
            <a:pPr marL="0" indent="0">
              <a:buNone/>
            </a:pP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  <a:sym typeface="Wingdings" panose="05000000000000000000" pitchFamily="2" charset="2"/>
              </a:rPr>
              <a:t></a:t>
            </a:r>
            <a:r>
              <a:rPr lang="en-IN" sz="2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The individual has a </a:t>
            </a:r>
            <a:r>
              <a:rPr lang="en-IN" sz="2200" b="1" dirty="0">
                <a:solidFill>
                  <a:schemeClr val="bg1"/>
                </a:solidFill>
              </a:rPr>
              <a:t>previous cybercrime conviction</a:t>
            </a:r>
            <a:r>
              <a:rPr lang="en-IN" sz="2200" dirty="0">
                <a:solidFill>
                  <a:schemeClr val="bg1"/>
                </a:solidFill>
              </a:rPr>
              <a:t>.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2F0C097-6CD8-C17B-FDC6-D2E7364A6FFE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31637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223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B5373F-6721-E747-AD16-F9C76A6122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44CE2B-EB23-291D-7064-59CD41595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295" y="365125"/>
            <a:ext cx="12087411" cy="1325563"/>
          </a:xfrm>
        </p:spPr>
        <p:txBody>
          <a:bodyPr/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rgbClr val="33CCFF"/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 </a:t>
            </a:r>
            <a:r>
              <a:rPr kumimoji="0" lang="en-IN" sz="44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08. </a:t>
            </a:r>
            <a:r>
              <a:rPr lang="en-IN" b="1" i="0" dirty="0">
                <a:solidFill>
                  <a:srgbClr val="F8FAFC"/>
                </a:solidFill>
                <a:effectLst/>
                <a:latin typeface="Poppins" panose="00000500000000000000" pitchFamily="2" charset="0"/>
              </a:rPr>
              <a:t> 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The Data Protection Sub-Framework</a:t>
            </a:r>
            <a:endParaRPr lang="en-IN" dirty="0">
              <a:solidFill>
                <a:srgbClr val="33CCFF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021D73F-D7C8-C726-EB9B-D7CCD7905889}"/>
              </a:ext>
            </a:extLst>
          </p:cNvPr>
          <p:cNvSpPr/>
          <p:nvPr/>
        </p:nvSpPr>
        <p:spPr>
          <a:xfrm>
            <a:off x="1080613" y="2163166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DF441CF-CCD3-6FCE-5A18-78B75AF242BA}"/>
              </a:ext>
            </a:extLst>
          </p:cNvPr>
          <p:cNvSpPr txBox="1"/>
          <p:nvPr/>
        </p:nvSpPr>
        <p:spPr>
          <a:xfrm>
            <a:off x="1080613" y="2241824"/>
            <a:ext cx="4147806" cy="10926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Collection Proportionality</a:t>
            </a:r>
            <a:endParaRPr lang="en-IN" dirty="0"/>
          </a:p>
          <a:p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Entities can only collect minimal dataset fields directly relevant to operation. Unrelated processing triggers compliance violations.</a:t>
            </a:r>
            <a:endParaRPr lang="en-IN" sz="14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73BC64-233A-7720-4C87-CD11FC4DA1BC}"/>
              </a:ext>
            </a:extLst>
          </p:cNvPr>
          <p:cNvSpPr/>
          <p:nvPr/>
        </p:nvSpPr>
        <p:spPr>
          <a:xfrm>
            <a:off x="6557183" y="2145959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Mandatory Erasure Protocols</a:t>
            </a:r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b="0" i="0" dirty="0">
                <a:solidFill>
                  <a:srgbClr val="94A3B8"/>
                </a:solidFill>
                <a:effectLst/>
                <a:latin typeface="Inter"/>
              </a:rPr>
              <a:t>Upon invocation of user erasure rights, systems must completely delete records from active caches and cold archives within 30 days.</a:t>
            </a:r>
            <a:r>
              <a:rPr lang="en-IN" sz="1400" dirty="0">
                <a:solidFill>
                  <a:schemeClr val="tx1"/>
                </a:solidFill>
              </a:rPr>
              <a:t>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86C64C6-571E-8587-B4C2-BBBA73A9CA36}"/>
              </a:ext>
            </a:extLst>
          </p:cNvPr>
          <p:cNvSpPr/>
          <p:nvPr/>
        </p:nvSpPr>
        <p:spPr>
          <a:xfrm>
            <a:off x="1080613" y="4161419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System Architecture Auditing</a:t>
            </a:r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</a:rPr>
              <a:t>Preventing financial fraud that undermines the digital economy and investor confidence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39C0026-5E52-F566-A5AD-811735E17812}"/>
              </a:ext>
            </a:extLst>
          </p:cNvPr>
          <p:cNvSpPr/>
          <p:nvPr/>
        </p:nvSpPr>
        <p:spPr>
          <a:xfrm>
            <a:off x="6557181" y="4161419"/>
            <a:ext cx="4147806" cy="1465007"/>
          </a:xfrm>
          <a:prstGeom prst="rect">
            <a:avLst/>
          </a:prstGeom>
          <a:solidFill>
            <a:srgbClr val="333399">
              <a:alpha val="85882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spcAft>
                <a:spcPts val="600"/>
              </a:spcAft>
              <a:buNone/>
            </a:pP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72-Hour Incident Accountability</a:t>
            </a:r>
            <a:endParaRPr lang="en-IN" dirty="0">
              <a:solidFill>
                <a:schemeClr val="accent5"/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</a:effectLst>
            </a:endParaRPr>
          </a:p>
          <a:p>
            <a:r>
              <a:rPr lang="en-IN" sz="1400" dirty="0">
                <a:solidFill>
                  <a:schemeClr val="tx1">
                    <a:lumMod val="50000"/>
                    <a:lumOff val="50000"/>
                  </a:schemeClr>
                </a:solidFill>
                <a:latin typeface="Inter"/>
              </a:rPr>
              <a:t>Building public confidence in e governance through guaranteed privacy and rapid recovery protocols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6344879-EC68-6C13-9C1A-B305D5FEB269}"/>
              </a:ext>
            </a:extLst>
          </p:cNvPr>
          <p:cNvCxnSpPr>
            <a:cxnSpLocks/>
          </p:cNvCxnSpPr>
          <p:nvPr/>
        </p:nvCxnSpPr>
        <p:spPr>
          <a:xfrm>
            <a:off x="155294" y="632027"/>
            <a:ext cx="0" cy="599229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709115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43CA0-34D4-71EC-C356-5132D20037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AF5F7070-13ED-DD0B-B8B6-BE5067DC1268}"/>
              </a:ext>
            </a:extLst>
          </p:cNvPr>
          <p:cNvSpPr/>
          <p:nvPr/>
        </p:nvSpPr>
        <p:spPr>
          <a:xfrm>
            <a:off x="767080" y="4544695"/>
            <a:ext cx="4952998" cy="1605280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CCA2611-0D43-78E3-53C2-E081D91AE08D}"/>
              </a:ext>
            </a:extLst>
          </p:cNvPr>
          <p:cNvSpPr/>
          <p:nvPr/>
        </p:nvSpPr>
        <p:spPr>
          <a:xfrm>
            <a:off x="750731" y="2527648"/>
            <a:ext cx="4952998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7B71CE9-0BDA-9721-CD50-572FCD6849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09.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Statutory Archival Persistence Limits</a:t>
            </a:r>
            <a:endParaRPr lang="en-IN" dirty="0">
              <a:solidFill>
                <a:srgbClr val="33CC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29FE2A-F639-857B-0C0A-205A78B4DB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To protect personal data from perpetual </a:t>
            </a:r>
            <a:r>
              <a:rPr lang="en-IN" sz="15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corporateexposure</a:t>
            </a:r>
            <a:r>
              <a:rPr lang="en-IN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, the law establishes strict retention caps </a:t>
            </a:r>
          </a:p>
          <a:p>
            <a:pPr marL="0" indent="0">
              <a:buNone/>
            </a:pPr>
            <a:r>
              <a:rPr lang="en-IN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across all storage layers.</a:t>
            </a:r>
          </a:p>
          <a:p>
            <a:pPr marL="0" indent="0">
              <a:buNone/>
            </a:pPr>
            <a:r>
              <a:rPr lang="en-IN" sz="2400" b="1" dirty="0">
                <a:solidFill>
                  <a:srgbClr val="33CCFF"/>
                </a:solidFill>
              </a:rPr>
              <a:t>5 Years Maximum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General user engagement histories and analytical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activity tracking must be completely purged 5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years post-account closure</a:t>
            </a:r>
            <a:r>
              <a:rPr lang="en-IN" sz="18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.</a:t>
            </a:r>
          </a:p>
          <a:p>
            <a:pPr marL="0" indent="0">
              <a:buNone/>
            </a:pPr>
            <a:endParaRPr lang="en-IN" sz="2400" b="1" dirty="0">
              <a:solidFill>
                <a:srgbClr val="33CCFF"/>
              </a:solidFill>
            </a:endParaRPr>
          </a:p>
          <a:p>
            <a:pPr marL="0" indent="0">
              <a:buNone/>
            </a:pPr>
            <a:r>
              <a:rPr lang="en-IN" sz="2400" b="1" dirty="0">
                <a:solidFill>
                  <a:srgbClr val="33CCFF"/>
                </a:solidFill>
              </a:rPr>
              <a:t>7 Years Maximum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Core financial receipts and fiscal ledger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interactions can be retained for a maximum of 7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1"/>
                </a:solidFill>
              </a:rPr>
              <a:t> years to facilitate historical tax auditing.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3FDFF9-70FB-5D96-A375-ED897E1665DD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Picture 12">
            <a:extLst>
              <a:ext uri="{FF2B5EF4-FFF2-40B4-BE49-F238E27FC236}">
                <a16:creationId xmlns:a16="http://schemas.microsoft.com/office/drawing/2014/main" id="{E86DE942-1EE0-2927-6AFB-C1D8A634F2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238239" y="2251455"/>
            <a:ext cx="5650071" cy="376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32805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1754D-C13D-25E2-2ECB-17D057789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8181D1F-5B28-9300-6A89-6E0BB750BCFF}"/>
              </a:ext>
            </a:extLst>
          </p:cNvPr>
          <p:cNvSpPr/>
          <p:nvPr/>
        </p:nvSpPr>
        <p:spPr>
          <a:xfrm>
            <a:off x="767079" y="4544695"/>
            <a:ext cx="5024117" cy="1605280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F881C7-186A-A18F-A17E-75A45F9C2362}"/>
              </a:ext>
            </a:extLst>
          </p:cNvPr>
          <p:cNvSpPr/>
          <p:nvPr/>
        </p:nvSpPr>
        <p:spPr>
          <a:xfrm>
            <a:off x="750731" y="2527648"/>
            <a:ext cx="4952998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8EE6DC6-32BA-8C8F-43BC-48776D5C1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10.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Enterprise Corporate Governance</a:t>
            </a:r>
            <a:endParaRPr lang="en-IN" b="1" i="0" dirty="0">
              <a:solidFill>
                <a:srgbClr val="F8FAF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2E6499-C3D3-5BD2-06C6-9C6F965797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Any corporate entity operating commercially inside VIT's Republic must establish active organizational defenses:</a:t>
            </a:r>
          </a:p>
          <a:p>
            <a:pPr marL="0" indent="0">
              <a:buNone/>
            </a:pPr>
            <a:endParaRPr lang="en-IN" sz="2400" dirty="0"/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DPO Appointment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Businesses handling profiles for &gt;10,000 citizens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must appoint an independent Data Protection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Officer reporting directly to the board.</a:t>
            </a:r>
          </a:p>
          <a:p>
            <a:pPr marL="0" indent="0">
              <a:buNone/>
            </a:pP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Mandatory Staff Training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Annual enterprise-wide security training simulations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are legally required to reduce internal corporate </a:t>
            </a:r>
          </a:p>
          <a:p>
            <a:pPr marL="0" indent="0">
              <a:buNone/>
            </a:pPr>
            <a:r>
              <a:rPr lang="en-IN" sz="1800" dirty="0">
                <a:solidFill>
                  <a:schemeClr val="bg2">
                    <a:lumMod val="90000"/>
                  </a:schemeClr>
                </a:solidFill>
              </a:rPr>
              <a:t>vulnerability to social engineering</a:t>
            </a:r>
            <a:r>
              <a:rPr lang="en-IN" sz="1800" dirty="0"/>
              <a:t>.</a:t>
            </a:r>
          </a:p>
          <a:p>
            <a:pPr marL="0" indent="0">
              <a:buNone/>
            </a:pP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460A930-08AD-32F2-4A14-6D4E06E84DF4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FCEE7C1B-1F0D-5B35-1B6C-1FE653895FA4}"/>
              </a:ext>
            </a:extLst>
          </p:cNvPr>
          <p:cNvSpPr/>
          <p:nvPr/>
        </p:nvSpPr>
        <p:spPr>
          <a:xfrm>
            <a:off x="6328571" y="3624928"/>
            <a:ext cx="4952998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b="1" dirty="0">
                <a:solidFill>
                  <a:srgbClr val="33CCFF"/>
                </a:solidFill>
              </a:rPr>
              <a:t>Penetration Testing</a:t>
            </a:r>
          </a:p>
          <a:p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Active red-team penetration verification must be performed annually against all critical production endpoints to validate </a:t>
            </a:r>
            <a:r>
              <a:rPr lang="en-IN" dirty="0" err="1">
                <a:solidFill>
                  <a:schemeClr val="bg2">
                    <a:lumMod val="90000"/>
                  </a:schemeClr>
                </a:solidFill>
              </a:rPr>
              <a:t>defense</a:t>
            </a:r>
            <a:r>
              <a:rPr lang="en-IN" dirty="0">
                <a:solidFill>
                  <a:schemeClr val="bg2">
                    <a:lumMod val="90000"/>
                  </a:schemeClr>
                </a:solidFill>
              </a:rPr>
              <a:t> integrity.</a:t>
            </a:r>
          </a:p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643533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1D9A12-C4D4-3DB2-49DE-FEDA6CDCE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E50FD85-8BFB-66D3-514D-504A0DB80B74}"/>
              </a:ext>
            </a:extLst>
          </p:cNvPr>
          <p:cNvSpPr/>
          <p:nvPr/>
        </p:nvSpPr>
        <p:spPr>
          <a:xfrm>
            <a:off x="767078" y="4001294"/>
            <a:ext cx="5024117" cy="1605280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2C638E1-752A-033F-B9A1-2A7546CFAB15}"/>
              </a:ext>
            </a:extLst>
          </p:cNvPr>
          <p:cNvSpPr/>
          <p:nvPr/>
        </p:nvSpPr>
        <p:spPr>
          <a:xfrm>
            <a:off x="802638" y="2169856"/>
            <a:ext cx="4952998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3921C11-BCD7-8FA7-1DB2-79389FD5F4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11.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State Infrastructure &amp; IoT Hardening</a:t>
            </a:r>
            <a:endParaRPr lang="en-IN" b="1" i="0" dirty="0">
              <a:solidFill>
                <a:srgbClr val="F8FAF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611603-5DE3-690D-B5EA-4CD7679E65E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3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Oversight spans grid networks, aviation controls, and water facilities.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Air gapping mandate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Absolute physical/logical separation between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industrial control systems (ICS/SCADA) and public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systems.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IOT Hardware rules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Mandatory lifetime security patches; immediate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market ban on appliances distributed with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hardcoded administrator root passwords.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97F38DE-9A91-26DB-3CDD-4840FCCF887D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F1A21568-C087-8FA6-05A0-8BE1868904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83627" y="1825625"/>
            <a:ext cx="5335059" cy="400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9460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EC765-931C-8433-6D0F-403C362F0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6876D07A-88C5-CC78-D83E-679BC1C6C1F8}"/>
              </a:ext>
            </a:extLst>
          </p:cNvPr>
          <p:cNvSpPr/>
          <p:nvPr/>
        </p:nvSpPr>
        <p:spPr>
          <a:xfrm>
            <a:off x="767078" y="4001294"/>
            <a:ext cx="5024117" cy="1605280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5E42080-45F8-F6D2-A04B-C91E0723F3F2}"/>
              </a:ext>
            </a:extLst>
          </p:cNvPr>
          <p:cNvSpPr/>
          <p:nvPr/>
        </p:nvSpPr>
        <p:spPr>
          <a:xfrm>
            <a:off x="802638" y="2169856"/>
            <a:ext cx="4952998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7D15C9-5EBA-5E57-D64E-D611665947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11.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State Infrastructure &amp; IoT Hardening</a:t>
            </a:r>
            <a:endParaRPr lang="en-IN" b="1" i="0" dirty="0">
              <a:solidFill>
                <a:srgbClr val="F8FAF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A3AE55-CBB9-9372-8470-088BFBA9AF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3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Oversight spans grid networks, aviation controls, and water facilities.</a:t>
            </a: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Air gapping mandate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Absolute physical/logical separation between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industrial control systems (ICS/SCADA) and public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systems.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IOT Hardware rules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Mandatory lifetime security patches; immediate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market ban on appliances distributed with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hardcoded administrator root passwords.</a:t>
            </a:r>
            <a:endParaRPr lang="en-IN" sz="14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782FFAB-D65F-4ED8-14ED-D1ACEB4F94C4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A5463BEF-BF7C-5C3D-9334-9B15B7054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483627" y="1825625"/>
            <a:ext cx="5335059" cy="40012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380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5FA4A0-9FBB-3BEB-9E19-7805B173F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DC4D8F4-36F8-6EDA-6177-2EFE121919A8}"/>
              </a:ext>
            </a:extLst>
          </p:cNvPr>
          <p:cNvSpPr/>
          <p:nvPr/>
        </p:nvSpPr>
        <p:spPr>
          <a:xfrm>
            <a:off x="742090" y="4527420"/>
            <a:ext cx="5024117" cy="1455073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9FDE4D62-F49F-281B-CB80-76543CE6E1D9}"/>
              </a:ext>
            </a:extLst>
          </p:cNvPr>
          <p:cNvSpPr/>
          <p:nvPr/>
        </p:nvSpPr>
        <p:spPr>
          <a:xfrm>
            <a:off x="777648" y="2851022"/>
            <a:ext cx="5745069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BFE1B64-B378-3795-5F3B-080E9A7FA0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12.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Emerging Tech: AI &amp; Deepfakes</a:t>
            </a:r>
            <a:endParaRPr lang="en-IN" b="1" i="0" dirty="0">
              <a:solidFill>
                <a:srgbClr val="F8FAF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B65A53-11E9-14A3-852D-A8AF5394C5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3" y="182562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Artificial Intelligence networks operating inside critical macroeconomic</a:t>
            </a:r>
          </a:p>
          <a:p>
            <a:pPr marL="0" indent="0">
              <a:buNone/>
            </a:pPr>
            <a:r>
              <a:rPr lang="en-US" sz="15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sectors face clear statutory regulatory requirements.</a:t>
            </a:r>
          </a:p>
          <a:p>
            <a:pPr algn="l">
              <a:spcAft>
                <a:spcPts val="600"/>
              </a:spcAft>
              <a:buNone/>
            </a:pPr>
            <a:endParaRPr lang="en-US" sz="15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  <a:p>
            <a:pPr algn="l">
              <a:spcAft>
                <a:spcPts val="600"/>
              </a:spcAft>
              <a:buNone/>
            </a:pPr>
            <a:r>
              <a:rPr lang="en-IN" sz="1800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The Human-in-the-Loop Imperative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Autonomous algorithmic termination or denial of essential services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without an explicit human review override channel is strictly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illegal. AI engines cannot issue final unreviewable citizen service exclusions.</a:t>
            </a: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rgbClr val="33CCFF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Watermarking Requirements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Public distribution of AI-generated deepfakes must embed an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 immutable, machine-readable digital watermark identifying it as 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synthetic media.</a:t>
            </a:r>
            <a:endParaRPr lang="en-IN" sz="1800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F6D41DF-0841-1F19-053D-600F8BC4FD2E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79977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917894-394D-F2F9-34D5-6880400382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D9F6765-A6F6-7FF7-B45D-CAC9994FABCC}"/>
              </a:ext>
            </a:extLst>
          </p:cNvPr>
          <p:cNvSpPr/>
          <p:nvPr/>
        </p:nvSpPr>
        <p:spPr>
          <a:xfrm>
            <a:off x="802640" y="3735703"/>
            <a:ext cx="5024117" cy="1171577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ED8812-0123-D6B1-F093-CC6850FBB13F}"/>
              </a:ext>
            </a:extLst>
          </p:cNvPr>
          <p:cNvSpPr/>
          <p:nvPr/>
        </p:nvSpPr>
        <p:spPr>
          <a:xfrm>
            <a:off x="808547" y="1825625"/>
            <a:ext cx="5745069" cy="1455072"/>
          </a:xfrm>
          <a:prstGeom prst="roundRect">
            <a:avLst/>
          </a:prstGeom>
          <a:solidFill>
            <a:schemeClr val="tx1">
              <a:lumMod val="65000"/>
              <a:lumOff val="35000"/>
              <a:alpha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C97277-4EA0-CD87-BC6A-B6FF2E92D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13.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Enforcement Architecture &amp; Education</a:t>
            </a:r>
            <a:endParaRPr lang="en-IN" b="1" i="0" dirty="0">
              <a:solidFill>
                <a:srgbClr val="F8FAFC"/>
              </a:solidFill>
              <a:effectLst/>
              <a:latin typeface="Poppins" panose="00000500000000000000" pitchFamily="2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AA7799-269E-E24C-ABF3-72110D301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67853" y="1825625"/>
            <a:ext cx="10515600" cy="4351338"/>
          </a:xfrm>
        </p:spPr>
        <p:txBody>
          <a:bodyPr>
            <a:norm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US" sz="1800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The National Cybersecurity Agency (NCSA)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Directly splits oversight into: National CERT (Ops), Policy &amp; Legal Bureau 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(Compliance), and International Coordination Bureau (Cross-border crime </a:t>
            </a:r>
          </a:p>
          <a:p>
            <a:pPr algn="l">
              <a:spcAft>
                <a:spcPts val="600"/>
              </a:spcAft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treaties)..</a:t>
            </a:r>
            <a:endParaRPr lang="en-IN" sz="1800" dirty="0">
              <a:solidFill>
                <a:schemeClr val="bg2">
                  <a:lumMod val="90000"/>
                </a:schemeClr>
              </a:solidFill>
            </a:endParaRPr>
          </a:p>
          <a:p>
            <a:pPr marL="0" indent="0">
              <a:buNone/>
            </a:pPr>
            <a:endParaRPr lang="en-IN" sz="1800" b="1" dirty="0">
              <a:solidFill>
                <a:srgbClr val="33CCFF"/>
              </a:solidFill>
            </a:endParaRPr>
          </a:p>
          <a:p>
            <a:pPr marL="0" indent="0">
              <a:buNone/>
            </a:pPr>
            <a:r>
              <a:rPr lang="en-IN" sz="1800" b="1" dirty="0">
                <a:solidFill>
                  <a:srgbClr val="33CCFF"/>
                </a:solidFill>
              </a:rPr>
              <a:t>Human Firewall Initiative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Integrates baseline network safety awareness modules into school</a:t>
            </a:r>
          </a:p>
          <a:p>
            <a:pPr marL="0" indent="0">
              <a:buNone/>
            </a:pPr>
            <a:r>
              <a:rPr lang="en-US" sz="1400" dirty="0">
                <a:solidFill>
                  <a:schemeClr val="bg2">
                    <a:lumMod val="90000"/>
                  </a:schemeClr>
                </a:solidFill>
              </a:rPr>
              <a:t> curriculums and secondary academic interactive lab hackathons.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srgbClr val="94A3B8"/>
              </a:solidFill>
              <a:effectLst/>
              <a:uLnTx/>
              <a:uFillTx/>
              <a:latin typeface="Inter"/>
              <a:ea typeface="+mn-ea"/>
              <a:cs typeface="+mn-cs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b="0" i="0" dirty="0">
              <a:solidFill>
                <a:srgbClr val="94A3B8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sz="1400" dirty="0">
              <a:solidFill>
                <a:srgbClr val="94A3B8"/>
              </a:solidFill>
              <a:latin typeface="Inter"/>
            </a:endParaRPr>
          </a:p>
          <a:p>
            <a:pPr marL="0" indent="0">
              <a:buNone/>
            </a:pPr>
            <a:endParaRPr lang="en-IN" sz="2000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E7E7E30-34F2-22C7-2959-539FE97C9939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3387991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A58DA-D598-F323-BB3B-E9BF7620BC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841AD-F482-E579-C078-F0AB0AD13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>
              <a:spcAft>
                <a:spcPts val="2625"/>
              </a:spcAft>
              <a:buNone/>
            </a:pPr>
            <a:r>
              <a:rPr lang="en-IN" dirty="0">
                <a:solidFill>
                  <a:schemeClr val="bg1"/>
                </a:solidFill>
              </a:rPr>
              <a:t>14. </a:t>
            </a:r>
            <a:r>
              <a:rPr lang="en-IN" b="1" i="0" dirty="0">
                <a:solidFill>
                  <a:srgbClr val="38BDF8"/>
                </a:solidFill>
                <a:effectLst/>
                <a:latin typeface="Poppins" panose="00000500000000000000" pitchFamily="2" charset="0"/>
              </a:rPr>
              <a:t>Statutory Enforcement Roadmap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70F7A2-BF02-A2D9-273C-5DAE04E9EF27}"/>
              </a:ext>
            </a:extLst>
          </p:cNvPr>
          <p:cNvCxnSpPr>
            <a:cxnSpLocks/>
          </p:cNvCxnSpPr>
          <p:nvPr/>
        </p:nvCxnSpPr>
        <p:spPr>
          <a:xfrm>
            <a:off x="432619" y="254000"/>
            <a:ext cx="0" cy="5922963"/>
          </a:xfrm>
          <a:prstGeom prst="line">
            <a:avLst/>
          </a:prstGeom>
          <a:ln w="25400">
            <a:solidFill>
              <a:srgbClr val="33CC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64D820A-5EDF-55F5-3B27-DED3B1D7E422}"/>
              </a:ext>
            </a:extLst>
          </p:cNvPr>
          <p:cNvCxnSpPr/>
          <p:nvPr/>
        </p:nvCxnSpPr>
        <p:spPr>
          <a:xfrm>
            <a:off x="1341120" y="4053840"/>
            <a:ext cx="122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64FDB1B9-CEA3-2EFD-8081-0181396275DB}"/>
              </a:ext>
            </a:extLst>
          </p:cNvPr>
          <p:cNvSpPr/>
          <p:nvPr/>
        </p:nvSpPr>
        <p:spPr>
          <a:xfrm>
            <a:off x="2570480" y="3931920"/>
            <a:ext cx="233679" cy="2438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C174C15-E100-6632-231D-8A6B3BF238C8}"/>
              </a:ext>
            </a:extLst>
          </p:cNvPr>
          <p:cNvSpPr txBox="1"/>
          <p:nvPr/>
        </p:nvSpPr>
        <p:spPr>
          <a:xfrm>
            <a:off x="1617979" y="4297680"/>
            <a:ext cx="23723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33CCFF"/>
                </a:solidFill>
              </a:rPr>
              <a:t>Months 0-6</a:t>
            </a:r>
          </a:p>
          <a:p>
            <a:pPr algn="ctr"/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NCSA Assembly &amp; National CERT monitoring </a:t>
            </a:r>
            <a:r>
              <a:rPr lang="en-IN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center</a:t>
            </a:r>
            <a:r>
              <a:rPr lang="en-IN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deployment.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84BBC7-DA61-D7BE-80EB-26BDC30854F5}"/>
              </a:ext>
            </a:extLst>
          </p:cNvPr>
          <p:cNvCxnSpPr/>
          <p:nvPr/>
        </p:nvCxnSpPr>
        <p:spPr>
          <a:xfrm>
            <a:off x="2687319" y="4053840"/>
            <a:ext cx="122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Flowchart: Connector 13">
            <a:extLst>
              <a:ext uri="{FF2B5EF4-FFF2-40B4-BE49-F238E27FC236}">
                <a16:creationId xmlns:a16="http://schemas.microsoft.com/office/drawing/2014/main" id="{4CDC7459-19F3-C7D0-78BD-968188FCAC7C}"/>
              </a:ext>
            </a:extLst>
          </p:cNvPr>
          <p:cNvSpPr/>
          <p:nvPr/>
        </p:nvSpPr>
        <p:spPr>
          <a:xfrm>
            <a:off x="4947922" y="3931920"/>
            <a:ext cx="233679" cy="2438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561FC0-8250-E82D-420B-C7859287268F}"/>
              </a:ext>
            </a:extLst>
          </p:cNvPr>
          <p:cNvCxnSpPr/>
          <p:nvPr/>
        </p:nvCxnSpPr>
        <p:spPr>
          <a:xfrm>
            <a:off x="3835401" y="4053840"/>
            <a:ext cx="12293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C6E25440-D9D1-B92E-EAFC-B07209E65185}"/>
              </a:ext>
            </a:extLst>
          </p:cNvPr>
          <p:cNvSpPr/>
          <p:nvPr/>
        </p:nvSpPr>
        <p:spPr>
          <a:xfrm>
            <a:off x="7010400" y="3931920"/>
            <a:ext cx="233679" cy="2438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C58CB0D-C174-7740-FBA7-0E8E0CAF59C9}"/>
              </a:ext>
            </a:extLst>
          </p:cNvPr>
          <p:cNvCxnSpPr>
            <a:cxnSpLocks/>
            <a:endCxn id="18" idx="2"/>
          </p:cNvCxnSpPr>
          <p:nvPr/>
        </p:nvCxnSpPr>
        <p:spPr>
          <a:xfrm>
            <a:off x="7127239" y="4053840"/>
            <a:ext cx="237235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C101682-CEEC-4559-2161-EC38188D7892}"/>
              </a:ext>
            </a:extLst>
          </p:cNvPr>
          <p:cNvSpPr/>
          <p:nvPr/>
        </p:nvSpPr>
        <p:spPr>
          <a:xfrm>
            <a:off x="9499598" y="3931920"/>
            <a:ext cx="233679" cy="243840"/>
          </a:xfrm>
          <a:prstGeom prst="flowChartConnec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65E499-F74A-DEAC-546F-0F94CAC51FBE}"/>
              </a:ext>
            </a:extLst>
          </p:cNvPr>
          <p:cNvSpPr txBox="1"/>
          <p:nvPr/>
        </p:nvSpPr>
        <p:spPr>
          <a:xfrm>
            <a:off x="3870962" y="4297680"/>
            <a:ext cx="237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33CCFF"/>
                </a:solidFill>
              </a:rPr>
              <a:t>Months 12</a:t>
            </a: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Mandatory corporate DPO registration and compliance initialization.</a:t>
            </a:r>
            <a:endParaRPr lang="en-I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A2CCFB9-A99A-423A-BBE5-1D981C249A80}"/>
              </a:ext>
            </a:extLst>
          </p:cNvPr>
          <p:cNvSpPr txBox="1"/>
          <p:nvPr/>
        </p:nvSpPr>
        <p:spPr>
          <a:xfrm>
            <a:off x="5941059" y="4297680"/>
            <a:ext cx="2372359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33CCFF"/>
                </a:solidFill>
              </a:rPr>
              <a:t>Year 3</a:t>
            </a: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First wave of required external infrastructure architecture audits.</a:t>
            </a:r>
            <a:endParaRPr lang="en-I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2D14031-7D11-5D07-9FFF-ED4798531D00}"/>
              </a:ext>
            </a:extLst>
          </p:cNvPr>
          <p:cNvSpPr txBox="1"/>
          <p:nvPr/>
        </p:nvSpPr>
        <p:spPr>
          <a:xfrm>
            <a:off x="8313418" y="4175760"/>
            <a:ext cx="23723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b="1" dirty="0">
                <a:solidFill>
                  <a:srgbClr val="33CCFF"/>
                </a:solidFill>
              </a:rPr>
              <a:t>Year 5 Target</a:t>
            </a:r>
          </a:p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Complete baseline stabilization and reduction of successful intrusions.</a:t>
            </a:r>
            <a:endParaRPr lang="en-IN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00FC0CD8-605D-4B22-849A-E79390E9A04B}"/>
              </a:ext>
            </a:extLst>
          </p:cNvPr>
          <p:cNvCxnSpPr>
            <a:cxnSpLocks/>
            <a:endCxn id="16" idx="2"/>
          </p:cNvCxnSpPr>
          <p:nvPr/>
        </p:nvCxnSpPr>
        <p:spPr>
          <a:xfrm>
            <a:off x="5064761" y="4053840"/>
            <a:ext cx="1945639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072759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B54373E-F75F-38D0-190C-3E15964D5944}"/>
              </a:ext>
            </a:extLst>
          </p:cNvPr>
          <p:cNvSpPr txBox="1"/>
          <p:nvPr/>
        </p:nvSpPr>
        <p:spPr>
          <a:xfrm>
            <a:off x="2687320" y="1982450"/>
            <a:ext cx="7020560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8800" b="1" dirty="0">
                <a:solidFill>
                  <a:srgbClr val="33CCFF"/>
                </a:solidFill>
                <a:effectLst>
                  <a:glow rad="228600">
                    <a:schemeClr val="accent1">
                      <a:satMod val="175000"/>
                      <a:alpha val="40000"/>
                    </a:schemeClr>
                  </a:glow>
                </a:effectLst>
              </a:rPr>
              <a:t>THANK YOU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706AED-861B-7B88-639A-5F4450138C25}"/>
              </a:ext>
            </a:extLst>
          </p:cNvPr>
          <p:cNvSpPr txBox="1"/>
          <p:nvPr/>
        </p:nvSpPr>
        <p:spPr>
          <a:xfrm>
            <a:off x="2763520" y="3930005"/>
            <a:ext cx="71018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By establishing enforceable citizen rights, clear corporate obligations, and strict penalty frameworks, VIT’s Republic safeguards its future digital landscape.</a:t>
            </a:r>
          </a:p>
        </p:txBody>
      </p:sp>
    </p:spTree>
    <p:extLst>
      <p:ext uri="{BB962C8B-B14F-4D97-AF65-F5344CB8AC3E}">
        <p14:creationId xmlns:p14="http://schemas.microsoft.com/office/powerpoint/2010/main" val="38278741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486</TotalTime>
  <Words>1302</Words>
  <Application>Microsoft Office PowerPoint</Application>
  <PresentationFormat>Widescreen</PresentationFormat>
  <Paragraphs>254</Paragraphs>
  <Slides>19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6" baseType="lpstr">
      <vt:lpstr>Arial</vt:lpstr>
      <vt:lpstr>Calibri</vt:lpstr>
      <vt:lpstr>Calibri Light</vt:lpstr>
      <vt:lpstr>Inter</vt:lpstr>
      <vt:lpstr>Poppins</vt:lpstr>
      <vt:lpstr>Wingdings</vt:lpstr>
      <vt:lpstr>Office Theme</vt:lpstr>
      <vt:lpstr>National Cybersecurity</vt:lpstr>
      <vt:lpstr>VIT Republic Background</vt:lpstr>
      <vt:lpstr> PURPOSE OF THE LAW</vt:lpstr>
      <vt:lpstr>01. The Imperative for Legislation</vt:lpstr>
      <vt:lpstr>02. Statuary legal definations</vt:lpstr>
      <vt:lpstr>03. The Bill of Digital Rights</vt:lpstr>
      <vt:lpstr>04. Access to Justice &amp; Forensic Remedies</vt:lpstr>
      <vt:lpstr>05. Criminal Penalties &amp; Custodial Terms</vt:lpstr>
      <vt:lpstr>06. Cyber Terrorism Clauses</vt:lpstr>
      <vt:lpstr>07. Statutory Aggravating factors </vt:lpstr>
      <vt:lpstr> 08.  The Data Protection Sub-Framework</vt:lpstr>
      <vt:lpstr>09. Statutory Archival Persistence Limits</vt:lpstr>
      <vt:lpstr>10. Enterprise Corporate Governance</vt:lpstr>
      <vt:lpstr>11. State Infrastructure &amp; IoT Hardening</vt:lpstr>
      <vt:lpstr>11. State Infrastructure &amp; IoT Hardening</vt:lpstr>
      <vt:lpstr>12. Emerging Tech: AI &amp; Deepfakes</vt:lpstr>
      <vt:lpstr>13. Enforcement Architecture &amp; Education</vt:lpstr>
      <vt:lpstr>14. Statutory Enforcement Roadmap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Rayed Khan</dc:creator>
  <cp:lastModifiedBy>Rayed Khan</cp:lastModifiedBy>
  <cp:revision>1</cp:revision>
  <dcterms:created xsi:type="dcterms:W3CDTF">2026-06-19T10:41:38Z</dcterms:created>
  <dcterms:modified xsi:type="dcterms:W3CDTF">2026-06-19T18:48:33Z</dcterms:modified>
</cp:coreProperties>
</file>